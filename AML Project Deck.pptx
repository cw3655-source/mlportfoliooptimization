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33248-FC29-E14C-B09F-C24543DDC96C}" v="9" dt="2026-04-27T22:29:07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anqi Wang" userId="99fad6ad-0c5b-4627-a959-747c5d196029" providerId="ADAL" clId="{FF71FFF3-5D7B-5BA7-86DB-92A14D21F0A6}"/>
    <pc:docChg chg="modSld">
      <pc:chgData name="Chuanqi Wang" userId="99fad6ad-0c5b-4627-a959-747c5d196029" providerId="ADAL" clId="{FF71FFF3-5D7B-5BA7-86DB-92A14D21F0A6}" dt="2026-04-27T22:29:07.666" v="1"/>
      <pc:docMkLst>
        <pc:docMk/>
      </pc:docMkLst>
      <pc:sldChg chg="modSp">
        <pc:chgData name="Chuanqi Wang" userId="99fad6ad-0c5b-4627-a959-747c5d196029" providerId="ADAL" clId="{FF71FFF3-5D7B-5BA7-86DB-92A14D21F0A6}" dt="2026-04-27T22:29:07.666" v="1"/>
        <pc:sldMkLst>
          <pc:docMk/>
          <pc:sldMk cId="0" sldId="257"/>
        </pc:sldMkLst>
        <pc:spChg chg="mod">
          <ac:chgData name="Chuanqi Wang" userId="99fad6ad-0c5b-4627-a959-747c5d196029" providerId="ADAL" clId="{FF71FFF3-5D7B-5BA7-86DB-92A14D21F0A6}" dt="2026-04-27T22:29:07.666" v="1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CADCFC"/>
                </a:solidFill>
                <a:latin typeface="Calibri"/>
              </a:rPr>
              <a:t>AML · SPRING 2026 · </a:t>
            </a:r>
            <a:r>
              <a:rPr lang="en-US" sz="1200" b="1" dirty="0">
                <a:solidFill>
                  <a:srgbClr val="CADCFC"/>
                </a:solidFill>
                <a:latin typeface="Calibri"/>
              </a:rPr>
              <a:t>PROJECT PRESENTATION</a:t>
            </a:r>
            <a:endParaRPr sz="1200" b="1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Machine Learning for</a:t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Portfolio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ADCFC"/>
                </a:solidFill>
                <a:latin typeface="Calibri"/>
              </a:rPr>
              <a:t>From CAPM and Fama–French to ML-driven mean–variance allocation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394960"/>
            <a:ext cx="54864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8545" y="5525740"/>
            <a:ext cx="7315200" cy="292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FFFFFF"/>
                </a:solidFill>
                <a:latin typeface="Georgia"/>
              </a:rPr>
              <a:t>Peter W</a:t>
            </a:r>
            <a:r>
              <a:rPr lang="en-US" sz="1800" b="1" i="0" dirty="0">
                <a:solidFill>
                  <a:srgbClr val="FFFFFF"/>
                </a:solidFill>
                <a:latin typeface="Georgia"/>
              </a:rPr>
              <a:t>ang</a:t>
            </a:r>
            <a:endParaRPr sz="18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8545" y="58457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CADCFC"/>
                </a:solidFill>
                <a:latin typeface="Calibri"/>
              </a:rPr>
              <a:t>Columbia SIPA · Applied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Where factor models and ML each earn their keep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1143000"/>
                <a:ext cx="10972800" cy="2563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300" b="0" i="1" dirty="0">
                    <a:solidFill>
                      <a:srgbClr val="475569"/>
                    </a:solidFill>
                    <a:latin typeface="Calibri"/>
                  </a:rPr>
                  <a:t>Three roles in the same optimization problem — </a:t>
                </a:r>
                <a14:m>
                  <m:oMath xmlns:m="http://schemas.openxmlformats.org/officeDocument/2006/math">
                    <m:r>
                      <a:rPr lang="el-GR" sz="1300" b="0" i="1" dirty="0" smtClean="0">
                        <a:solidFill>
                          <a:srgbClr val="47556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l-GR" sz="1300" b="0" i="1" dirty="0" smtClean="0">
                        <a:solidFill>
                          <a:srgbClr val="475569"/>
                        </a:solidFill>
                        <a:latin typeface="Cambria Math" panose="02040503050406030204" pitchFamily="18" charset="0"/>
                      </a:rPr>
                      <m:t> ∝ </m:t>
                    </m:r>
                    <m:sSup>
                      <m:sSupPr>
                        <m:ctrlPr>
                          <a:rPr lang="el-GR" sz="1300" b="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300" b="0" i="0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l-GR" sz="1300" b="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-1</m:t>
                        </m:r>
                      </m:sup>
                    </m:sSup>
                    <m:d>
                      <m:dPr>
                        <m:ctrlPr>
                          <a:rPr lang="el-GR" sz="1300" b="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l-GR" sz="1300" b="0" i="1" dirty="0">
                                <a:solidFill>
                                  <a:srgbClr val="47556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l-GR" sz="1300" b="0" i="1" dirty="0" err="1">
                                <a:solidFill>
                                  <a:srgbClr val="475569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  <m:r>
                          <a:rPr lang="el-GR" sz="1300" b="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l-GR" sz="1300" b="0" i="1" dirty="0" err="1">
                                <a:solidFill>
                                  <a:srgbClr val="47556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300" b="0" i="1" dirty="0" err="1">
                                <a:solidFill>
                                  <a:srgbClr val="475569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l-GR" sz="1300" b="0" i="1" dirty="0" err="1">
                                <a:solidFill>
                                  <a:srgbClr val="475569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l-GR" sz="1300" b="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sz="1300" b="0" i="1" dirty="0">
                  <a:solidFill>
                    <a:srgbClr val="475569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143000"/>
                <a:ext cx="10972800" cy="256352"/>
              </a:xfrm>
              <a:prstGeom prst="rect">
                <a:avLst/>
              </a:prstGeom>
              <a:blipFill>
                <a:blip r:embed="rId2"/>
                <a:stretch>
                  <a:fillRect l="-925" t="-952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48640" y="1691640"/>
            <a:ext cx="365760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73152" cy="4160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E2761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Georgia"/>
              </a:rPr>
              <a:t>CAPM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Equilibrium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59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Equilibrium claim: under CAPM the cap-weighted market is the tangency portfolio.</a:t>
            </a:r>
          </a:p>
          <a:p>
            <a:pPr algn="l">
              <a:lnSpc>
                <a:spcPct val="125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Defines the passive benchmark against which any active strategy is measured.</a:t>
            </a:r>
          </a:p>
          <a:p>
            <a:pPr algn="l">
              <a:lnSpc>
                <a:spcPct val="125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β decomposes return into market exposure + idiosyncratic noise — the simplest factor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65760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73152" cy="41605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9202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475569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060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Georgia"/>
              </a:rPr>
              <a:t>Fama–French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0175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Risk decomposition +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566159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Adds size, value, profitability, investment factors — empirically motivated extensions of CAPM.</a:t>
            </a:r>
          </a:p>
          <a:p>
            <a:pPr algn="l">
              <a:lnSpc>
                <a:spcPct val="125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Delivers a clean factor-implied covariance Σ = B Λ B′ + D, parsimonious and well-conditioned at Russell-1000 scale.</a:t>
            </a:r>
          </a:p>
          <a:p>
            <a:pPr algn="l">
              <a:lnSpc>
                <a:spcPct val="125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Standard language for testing whether a strategy's α is real or a known factor tilt.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691640"/>
            <a:ext cx="365760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1691640"/>
            <a:ext cx="73152" cy="41605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13064" y="19202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B85042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6060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Georgia"/>
              </a:rPr>
              <a:t>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0175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Conditional mean of returns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3566159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Cross-sectional mapping: f(~94 firm characteristics + 8 macro state vars) → next-month μ̂ (Gu–Kelly–Xiu, 2020).</a:t>
            </a:r>
          </a:p>
          <a:p>
            <a:pPr algn="l">
              <a:lnSpc>
                <a:spcPct val="125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Captures nonlinearities and interactions that linear factor models miss; regularization controls overfitting.</a:t>
            </a:r>
          </a:p>
          <a:p>
            <a:pPr algn="l">
              <a:lnSpc>
                <a:spcPct val="125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Trained on the full Russell 1000; rolling re-fit tracks regime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1301984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Factor models build the scaffolding (Σ, equilibrium benchmark, attribution). ML supplies the one piece they handle poorly — μ̂. Both feed the same optimizer.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173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Data, sample, and 5-stock illustration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Russell 1000 powers the ML training; five stocks illustrate the asset-pricing piece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SAMPLE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Feb 2010 – Dec 2024 · 179 monthly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• Stock prices —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yfinance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(monthly close, dividend-adjusted). CRSP via WRDS planned for the full project.</a:t>
            </a:r>
          </a:p>
          <a:p>
            <a:pPr algn="l">
              <a:lnSpc>
                <a:spcPct val="130000"/>
              </a:lnSpc>
            </a:pPr>
            <a:endParaRPr sz="1200" b="0" i="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• Factor returns — Ken French data library (Mkt–RF, SMB, HML, RMW, CMA, RF).</a:t>
            </a:r>
          </a:p>
          <a:p>
            <a:pPr algn="l">
              <a:lnSpc>
                <a:spcPct val="130000"/>
              </a:lnSpc>
            </a:pPr>
            <a:endParaRPr sz="1200" b="0" i="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• Firm characteristics for ML —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Compustat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(planned); SEC EDGAR +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yfinance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as fallback feature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UNIVERSE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Russell 1000 for ML training (cross-sectional power); 5-stock subset for the optimization illustration.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91640"/>
            <a:ext cx="52120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9202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FIVE-STOCK ILLUSTRATION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2860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75569"/>
                </a:solidFill>
                <a:latin typeface="Calibri"/>
              </a:rPr>
              <a:t>Ticker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286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75569"/>
                </a:solidFill>
                <a:latin typeface="Calibri"/>
              </a:rPr>
              <a:t>Sector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2860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75569"/>
                </a:solidFill>
                <a:latin typeface="Calibri"/>
              </a:rPr>
              <a:t>Role in subset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578608"/>
            <a:ext cx="4572000" cy="8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2788920"/>
            <a:ext cx="48463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295351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AAPL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953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95351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High-β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54787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JPM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5478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Financials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5478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Cyclical, value-tilted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977640"/>
            <a:ext cx="48463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414223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XOM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1422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Energy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1422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Commodity-linked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73659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JNJ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365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Healthcare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73659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Defensive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5166360"/>
            <a:ext cx="48463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33095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3309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Consumer Staples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Low-β defensive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80760"/>
            <a:ext cx="1106424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 dirty="0">
                <a:solidFill>
                  <a:srgbClr val="475569"/>
                </a:solidFill>
                <a:latin typeface="Calibri"/>
              </a:rPr>
              <a:t>Diversified by sector and factor exposure — gives a varied test of CAPM/FF5 and a non-trivial covariance structure for the optimizer.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CAPM: one factor, modest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Per-stock OLS regressions on (Mkt − Rf), monthly excess returns, 2010–2024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i="1">
                <a:solidFill>
                  <a:srgbClr val="0F172A"/>
                </a:solidFill>
                <a:latin typeface="Cambria"/>
              </a:rPr>
              <a:t>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i,t</a:t>
            </a:r>
            <a:r>
              <a:rPr sz="1400" i="1">
                <a:solidFill>
                  <a:srgbClr val="0F172A"/>
                </a:solidFill>
                <a:latin typeface="Cambria"/>
              </a:rPr>
              <a:t> − 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f,t</a:t>
            </a:r>
            <a:r>
              <a:rPr sz="1400" i="1">
                <a:solidFill>
                  <a:srgbClr val="0F172A"/>
                </a:solidFill>
                <a:latin typeface="Cambria"/>
              </a:rPr>
              <a:t>   =   α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1400" i="1">
                <a:solidFill>
                  <a:srgbClr val="0F172A"/>
                </a:solidFill>
                <a:latin typeface="Cambria"/>
              </a:rPr>
              <a:t>   +   β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1400" i="1">
                <a:solidFill>
                  <a:srgbClr val="0F172A"/>
                </a:solidFill>
                <a:latin typeface="Cambria"/>
              </a:rPr>
              <a:t> (R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m,t</a:t>
            </a:r>
            <a:r>
              <a:rPr sz="1400" i="1">
                <a:solidFill>
                  <a:srgbClr val="0F172A"/>
                </a:solidFill>
                <a:latin typeface="Cambria"/>
              </a:rPr>
              <a:t> − 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f,t</a:t>
            </a:r>
            <a:r>
              <a:rPr sz="1400" i="1">
                <a:solidFill>
                  <a:srgbClr val="0F172A"/>
                </a:solidFill>
                <a:latin typeface="Cambria"/>
              </a:rPr>
              <a:t>)   +   ε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i,t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i="1">
                <a:solidFill>
                  <a:srgbClr val="475569"/>
                </a:solidFill>
                <a:latin typeface="Calibri"/>
              </a:rPr>
              <a:t>OLS, monthly · i ∈ {AAPL, JPM, XOM, JNJ, PG} · Rₘ = CRSP value-weighted US equity (Ken French) · R_f = 1-month T-bill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9494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Ticker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β (mkt)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α (% /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RMSE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27248"/>
            <a:ext cx="6583680" cy="8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65836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AAPL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1.07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+1.13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0.061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JPM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Financials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1.22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+0.05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0.050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51960"/>
            <a:ext cx="65836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XOM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-0.22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0.059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JNJ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Healthcare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+0.15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0.039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57800"/>
            <a:ext cx="65836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PG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Consumer Staples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+0.40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0.040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035040"/>
            <a:ext cx="6400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dirty="0">
                <a:solidFill>
                  <a:srgbClr val="94A3B8"/>
                </a:solidFill>
                <a:latin typeface="Calibri"/>
              </a:rPr>
              <a:t>Excess returns over Rf · 179 months · α reported in monthly percent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2468880"/>
            <a:ext cx="3840480" cy="3520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818120" y="2468880"/>
            <a:ext cx="73152" cy="3520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92440" y="2743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READING THE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3108960"/>
            <a:ext cx="3291840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JPM has the highest market β (1.22) — financials are pro-cyclical.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PG and JNJ are the defensive names: β well below 1 and the lowest CAPM R².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AAPL shows a positive monthly α of +1.13% — but R² is only 0.37, so CAPM leaves a lot unexplained.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Across all five names, R² ≤ 0.54: clear room for additional factors and ML features.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FF5: more factors, materially better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Adding SMB, HML, RMW, CMA roughly doubles R² for several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i="1">
                <a:solidFill>
                  <a:srgbClr val="0F172A"/>
                </a:solidFill>
                <a:latin typeface="Cambria"/>
              </a:rPr>
              <a:t>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i,t</a:t>
            </a:r>
            <a:r>
              <a:rPr sz="1400" i="1">
                <a:solidFill>
                  <a:srgbClr val="0F172A"/>
                </a:solidFill>
                <a:latin typeface="Cambria"/>
              </a:rPr>
              <a:t> − 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f,t</a:t>
            </a:r>
            <a:r>
              <a:rPr sz="1400" i="1">
                <a:solidFill>
                  <a:srgbClr val="0F172A"/>
                </a:solidFill>
                <a:latin typeface="Cambria"/>
              </a:rPr>
              <a:t>   =   α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1400" i="1">
                <a:solidFill>
                  <a:srgbClr val="0F172A"/>
                </a:solidFill>
                <a:latin typeface="Cambria"/>
              </a:rPr>
              <a:t>   +   β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900" i="1" baseline="30000">
                <a:solidFill>
                  <a:srgbClr val="0F172A"/>
                </a:solidFill>
                <a:latin typeface="Cambria"/>
              </a:rPr>
              <a:t>Mkt</a:t>
            </a:r>
            <a:r>
              <a:rPr sz="1400" i="1">
                <a:solidFill>
                  <a:srgbClr val="0F172A"/>
                </a:solidFill>
                <a:latin typeface="Cambria"/>
              </a:rPr>
              <a:t> (R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m,t</a:t>
            </a:r>
            <a:r>
              <a:rPr sz="1400" i="1">
                <a:solidFill>
                  <a:srgbClr val="0F172A"/>
                </a:solidFill>
                <a:latin typeface="Cambria"/>
              </a:rPr>
              <a:t> − R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f,t</a:t>
            </a:r>
            <a:r>
              <a:rPr sz="1400" i="1">
                <a:solidFill>
                  <a:srgbClr val="0F172A"/>
                </a:solidFill>
                <a:latin typeface="Cambria"/>
              </a:rPr>
              <a:t>)   +   β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900" i="1" baseline="30000">
                <a:solidFill>
                  <a:srgbClr val="0F172A"/>
                </a:solidFill>
                <a:latin typeface="Cambria"/>
              </a:rPr>
              <a:t>SMB</a:t>
            </a:r>
            <a:r>
              <a:rPr sz="1400" i="1">
                <a:solidFill>
                  <a:srgbClr val="0F172A"/>
                </a:solidFill>
                <a:latin typeface="Cambria"/>
              </a:rPr>
              <a:t> SMB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t</a:t>
            </a:r>
            <a:r>
              <a:rPr sz="1400" i="1">
                <a:solidFill>
                  <a:srgbClr val="0F172A"/>
                </a:solidFill>
                <a:latin typeface="Cambria"/>
              </a:rPr>
              <a:t>   +   β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900" i="1" baseline="30000">
                <a:solidFill>
                  <a:srgbClr val="0F172A"/>
                </a:solidFill>
                <a:latin typeface="Cambria"/>
              </a:rPr>
              <a:t>HML</a:t>
            </a:r>
            <a:r>
              <a:rPr sz="1400" i="1">
                <a:solidFill>
                  <a:srgbClr val="0F172A"/>
                </a:solidFill>
                <a:latin typeface="Cambria"/>
              </a:rPr>
              <a:t> HML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t</a:t>
            </a:r>
          </a:p>
          <a:p>
            <a:pPr algn="ctr">
              <a:lnSpc>
                <a:spcPct val="125000"/>
              </a:lnSpc>
            </a:pPr>
            <a:r>
              <a:rPr sz="1400" i="1">
                <a:solidFill>
                  <a:srgbClr val="0F172A"/>
                </a:solidFill>
                <a:latin typeface="Cambria"/>
              </a:rPr>
              <a:t>+   β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900" i="1" baseline="30000">
                <a:solidFill>
                  <a:srgbClr val="0F172A"/>
                </a:solidFill>
                <a:latin typeface="Cambria"/>
              </a:rPr>
              <a:t>RMW</a:t>
            </a:r>
            <a:r>
              <a:rPr sz="1400" i="1">
                <a:solidFill>
                  <a:srgbClr val="0F172A"/>
                </a:solidFill>
                <a:latin typeface="Cambria"/>
              </a:rPr>
              <a:t> RMW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t</a:t>
            </a:r>
            <a:r>
              <a:rPr sz="1400" i="1">
                <a:solidFill>
                  <a:srgbClr val="0F172A"/>
                </a:solidFill>
                <a:latin typeface="Cambria"/>
              </a:rPr>
              <a:t>   +   β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</a:t>
            </a:r>
            <a:r>
              <a:rPr sz="900" i="1" baseline="30000">
                <a:solidFill>
                  <a:srgbClr val="0F172A"/>
                </a:solidFill>
                <a:latin typeface="Cambria"/>
              </a:rPr>
              <a:t>CMA</a:t>
            </a:r>
            <a:r>
              <a:rPr sz="1400" i="1">
                <a:solidFill>
                  <a:srgbClr val="0F172A"/>
                </a:solidFill>
                <a:latin typeface="Cambria"/>
              </a:rPr>
              <a:t> CMA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t</a:t>
            </a:r>
            <a:r>
              <a:rPr sz="1400" i="1">
                <a:solidFill>
                  <a:srgbClr val="0F172A"/>
                </a:solidFill>
                <a:latin typeface="Cambria"/>
              </a:rPr>
              <a:t>   +   ε</a:t>
            </a:r>
            <a:r>
              <a:rPr sz="900" i="1" baseline="-25000">
                <a:solidFill>
                  <a:srgbClr val="0F172A"/>
                </a:solidFill>
                <a:latin typeface="Cambria"/>
              </a:rPr>
              <a:t>i,t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i="1">
                <a:solidFill>
                  <a:srgbClr val="475569"/>
                </a:solidFill>
                <a:latin typeface="Calibri"/>
              </a:rPr>
              <a:t>OLS, monthly · all factors from Ken French (2x3 sorts) · Mkt = CRSP value-weighted US equity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1064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Ticker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β Mkt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β SMB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β HML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β RMW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β CMA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α (% / 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R² (FF5)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88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ΔR² vs CAPM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72968"/>
            <a:ext cx="10698480" cy="8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AAPL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1.13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3649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+0.10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JPM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1.13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+1.21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38221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+0.21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XOM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+0.74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42793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+0.23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JNJ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020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+0.75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365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+0.12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PG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0.54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-0.37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+0.80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-0.03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40" y="5193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+0.25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806440"/>
            <a:ext cx="105156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dirty="0">
                <a:solidFill>
                  <a:srgbClr val="94A3B8"/>
                </a:solidFill>
                <a:latin typeface="Calibri"/>
              </a:rPr>
              <a:t>α t-stats are not significant for any name at the 5% level once FF5 controls are included — exactly the pattern Fama–French were after.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109403"/>
            <a:ext cx="1106424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 dirty="0">
                <a:solidFill>
                  <a:srgbClr val="475569"/>
                </a:solidFill>
                <a:latin typeface="Calibri"/>
              </a:rPr>
              <a:t>Largest R² gains: JPM (+0.21, value-tilted financial) and XOM (+0.23, picks up CMA / value loadings) — the names CAPM was furthest off 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Each stock has its own factor fingerprint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FF5 loadings reveal economic exposures that CAPM collapses into a single β</a:t>
            </a:r>
          </a:p>
        </p:txBody>
      </p:sp>
      <p:pic>
        <p:nvPicPr>
          <p:cNvPr id="5" name="Picture 4" descr="chart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498079" cy="35372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52044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1691640"/>
            <a:ext cx="73152" cy="42976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96596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ECONOMIC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JPM: strong + HML, − RMW — classic value-tilted, low-profitability financial.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AAPL: + RMW, − HML — high-quality growth, low book-to-market.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XOM: + CMA, + HML — value + low-investment, consistent with mature energy.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PG / JNJ: + CMA — defensive, capital-disciplined firms.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These exposures look very different across stocks. A single market β cannot capture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FF5 wins on every stock — but R² caps below 0.75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In-sample R² comparison; the gap is what motivates a richer model</a:t>
            </a:r>
          </a:p>
        </p:txBody>
      </p:sp>
      <p:pic>
        <p:nvPicPr>
          <p:cNvPr id="5" name="Picture 4" descr="char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315200" cy="38414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1691640"/>
            <a:ext cx="3703320" cy="1828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ADCFC"/>
                </a:solidFill>
                <a:latin typeface="Calibri"/>
              </a:rPr>
              <a:t>AVERAGE R²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860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+18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ADCFC"/>
                </a:solidFill>
                <a:latin typeface="Calibri"/>
              </a:rPr>
              <a:t>CAPM 32% → FF5 50%, mean across 5 stocks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886200"/>
            <a:ext cx="3703320" cy="2286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3886200"/>
            <a:ext cx="73152" cy="2286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3931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WHAT FF5 STILL MISSES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297680"/>
            <a:ext cx="32004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Highest FF5 R² is 0.74 (JPM) — meaningful idiosyncratic variance remains.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Linear in five hand-picked factors; no momentum, quality interactions, or macro state.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Fit is in-sample. Out-of-sample MSFE is the real benchmark for portfolio choice.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Why ML, and where it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525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>
                <a:solidFill>
                  <a:srgbClr val="475569"/>
                </a:solidFill>
                <a:latin typeface="Calibri"/>
              </a:rPr>
              <a:t>Factor models are time-series regressions per stock — ML is the cross-sectional feature-to-prediction map that fills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8640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73152" cy="4160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" y="1874300"/>
            <a:ext cx="548640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E2761"/>
                </a:solidFill>
                <a:latin typeface="Calibri"/>
              </a:rPr>
              <a:t>WHAT FACTOR MODELS CAN'T DO ALONE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2960" y="2194560"/>
                <a:ext cx="4937760" cy="361836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• CAPM and FF5 are time-series </a:t>
                </a:r>
                <a:r>
                  <a:rPr lang="en-US" sz="1400" b="0" i="0" dirty="0">
                    <a:solidFill>
                      <a:srgbClr val="0F172A"/>
                    </a:solidFill>
                    <a:latin typeface="Calibri"/>
                  </a:rPr>
                  <a:t>OLS </a:t>
                </a:r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regressions per stock. They give you each stock's β, not a general formula.</a:t>
                </a:r>
              </a:p>
              <a:p>
                <a:pPr algn="l">
                  <a:lnSpc>
                    <a:spcPct val="130000"/>
                  </a:lnSpc>
                </a:pPr>
                <a:endParaRPr sz="14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• </a:t>
                </a:r>
                <a14:m>
                  <m:oMath xmlns:m="http://schemas.openxmlformats.org/officeDocument/2006/math">
                    <m:r>
                      <a:rPr lang="zh-CN" altLang="en-US" sz="14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dirty="0" err="1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dirty="0" err="1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err="1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40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sz="1400" b="0" i="1" dirty="0" err="1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en-US" sz="1400" b="0" i="1" dirty="0" err="1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· </m:t>
                    </m:r>
                    <m:r>
                      <a:rPr lang="en-US" altLang="zh-CN" sz="140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requires assuming </a:t>
                </a:r>
                <a14:m>
                  <m:oMath xmlns:m="http://schemas.openxmlformats.org/officeDocument/2006/math">
                    <m:r>
                      <a:rPr lang="zh-CN" altLang="en-US" sz="14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 going forward — the loadings don't tell you the premia.</a:t>
                </a:r>
              </a:p>
              <a:p>
                <a:pPr algn="l">
                  <a:lnSpc>
                    <a:spcPct val="130000"/>
                  </a:lnSpc>
                </a:pPr>
                <a:endParaRPr sz="14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• Historical-mean </a:t>
                </a:r>
                <a14:m>
                  <m:oMath xmlns:m="http://schemas.openxmlformats.org/officeDocument/2006/math">
                    <m:r>
                      <a:rPr lang="zh-CN" altLang="en-US" sz="14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 forecasts barely beat zero out-of-sample (Welch–Goyal 2008; Campbell–Thompson 2008).</a:t>
                </a:r>
              </a:p>
              <a:p>
                <a:pPr algn="l">
                  <a:lnSpc>
                    <a:spcPct val="130000"/>
                  </a:lnSpc>
                </a:pPr>
                <a:endParaRPr sz="14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• ARIMA on monthly factor returns degenerates to ARMA(0,0,0) — it just reproduces the historical mean.</a:t>
                </a:r>
              </a:p>
              <a:p>
                <a:pPr algn="l">
                  <a:lnSpc>
                    <a:spcPct val="130000"/>
                  </a:lnSpc>
                </a:pPr>
                <a:endParaRPr sz="14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• Bottom line: factor models describe risk well, predict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400" b="0" i="1" dirty="0" smtClean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400" b="0" i="1" dirty="0" smtClean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sz="1400" b="0" i="0" dirty="0">
                    <a:solidFill>
                      <a:srgbClr val="0F172A"/>
                    </a:solidFill>
                    <a:latin typeface="Calibri"/>
                  </a:rPr>
                  <a:t> poorly.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194560"/>
                <a:ext cx="4937760" cy="3618363"/>
              </a:xfrm>
              <a:prstGeom prst="rect">
                <a:avLst/>
              </a:prstGeom>
              <a:blipFill>
                <a:blip r:embed="rId2"/>
                <a:stretch>
                  <a:fillRect l="-2051" t="-350" r="-3077" b="-2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126480" y="1691640"/>
            <a:ext cx="557784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73152" cy="41605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656" y="1892011"/>
            <a:ext cx="557784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B85042"/>
                </a:solidFill>
                <a:latin typeface="Calibri"/>
              </a:rPr>
              <a:t>WHAT ML ADDS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00800" y="2076006"/>
                <a:ext cx="5029200" cy="36199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• Cross-sectional mapping: </a:t>
                </a:r>
                <a14:m>
                  <m:oMath xmlns:m="http://schemas.openxmlformats.org/officeDocument/2006/math">
                    <m:r>
                      <a:rPr lang="zh-CN" altLang="en-US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(~94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𝑓𝑖𝑟𝑚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𝑐h𝑎𝑟𝑎𝑐𝑡𝑒𝑟𝑖𝑠𝑡𝑖𝑐𝑠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+ 8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𝑚𝑎𝑐𝑟𝑜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𝑣𝑎𝑟𝑠</m:t>
                    </m:r>
                    <m:r>
                      <a:rPr lang="en-US" altLang="zh-CN" sz="1300" b="0" i="1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→ next-month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00" b="0" i="1" dirty="0" smtClean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300" b="0" i="1" dirty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300" b="0" i="1" dirty="0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sz="13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3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30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sz="13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endParaRPr sz="13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• Generalizes across stocks — applies to any name whose features can be computed.</a:t>
                </a:r>
              </a:p>
              <a:p>
                <a:pPr algn="l">
                  <a:lnSpc>
                    <a:spcPct val="130000"/>
                  </a:lnSpc>
                </a:pPr>
                <a:endParaRPr sz="13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• Captures nonlinearities and interactions that linear factor models miss.</a:t>
                </a:r>
              </a:p>
              <a:p>
                <a:pPr algn="l">
                  <a:lnSpc>
                    <a:spcPct val="130000"/>
                  </a:lnSpc>
                </a:pPr>
                <a:endParaRPr sz="13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• Regularization (Ridge / Lasso) controls overfitting at high feature width.</a:t>
                </a:r>
              </a:p>
              <a:p>
                <a:pPr algn="l">
                  <a:lnSpc>
                    <a:spcPct val="130000"/>
                  </a:lnSpc>
                </a:pPr>
                <a:endParaRPr sz="13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• Rolling-window training tracks regime change; refit annually.</a:t>
                </a:r>
              </a:p>
              <a:p>
                <a:pPr algn="l">
                  <a:lnSpc>
                    <a:spcPct val="130000"/>
                  </a:lnSpc>
                </a:pPr>
                <a:endParaRPr sz="1300" b="0" i="0" dirty="0">
                  <a:solidFill>
                    <a:srgbClr val="0F172A"/>
                  </a:solidFill>
                  <a:latin typeface="Calibri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sz="1300" b="0" i="0" dirty="0">
                    <a:solidFill>
                      <a:srgbClr val="0F172A"/>
                    </a:solidFill>
                    <a:latin typeface="Calibri"/>
                  </a:rPr>
                  <a:t>• Methodological template: Gu, Kelly &amp; Xiu (2020), Empirical Asset Pricing via Machine Learning.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076006"/>
                <a:ext cx="5029200" cy="3619965"/>
              </a:xfrm>
              <a:prstGeom prst="rect">
                <a:avLst/>
              </a:prstGeom>
              <a:blipFill>
                <a:blip r:embed="rId3"/>
                <a:stretch>
                  <a:fillRect l="-2267" t="-350" r="-1259" b="-2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8640" y="5890006"/>
            <a:ext cx="11064240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 dirty="0">
                <a:solidFill>
                  <a:srgbClr val="475569"/>
                </a:solidFill>
                <a:latin typeface="Calibri"/>
              </a:rPr>
              <a:t>FF5 doesn't go away — it becomes the attribution lens. Regress the ML strategy's monthly returns on FF5; the residual α tells you whether ML is generating real alpha or just buying known factor tilts.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8 / 9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F99D218-2D31-80B7-EECE-D0BDBEE08DA5}"/>
              </a:ext>
            </a:extLst>
          </p:cNvPr>
          <p:cNvSpPr/>
          <p:nvPr/>
        </p:nvSpPr>
        <p:spPr>
          <a:xfrm>
            <a:off x="548640" y="1232516"/>
            <a:ext cx="11064240" cy="384048"/>
          </a:xfrm>
          <a:prstGeom prst="rect">
            <a:avLst/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D4B834A6-0B18-7420-8567-FA633B18DC57}"/>
              </a:ext>
            </a:extLst>
          </p:cNvPr>
          <p:cNvSpPr txBox="1"/>
          <p:nvPr/>
        </p:nvSpPr>
        <p:spPr>
          <a:xfrm>
            <a:off x="777240" y="1287380"/>
            <a:ext cx="10698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5042"/>
                </a:solidFill>
                <a:latin typeface="Calibri"/>
              </a:rPr>
              <a:t>METHODOLOGICAL FOUNDATION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FB5FCC5-04E3-DB25-DD17-A2A43A6BB276}"/>
              </a:ext>
            </a:extLst>
          </p:cNvPr>
          <p:cNvSpPr txBox="1"/>
          <p:nvPr/>
        </p:nvSpPr>
        <p:spPr>
          <a:xfrm>
            <a:off x="777240" y="1415396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 dirty="0">
                <a:solidFill>
                  <a:srgbClr val="0F172A"/>
                </a:solidFill>
                <a:latin typeface="Calibri"/>
              </a:rPr>
              <a:t>Gu, Kelly &amp; Xiu (2020), Empirical Asset Pricing via Machine Learning  ·  Review of Financial Studies 33(5): 2223–2273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BED45C9B-E913-AB2A-5CAE-EBBAF4EEB28B}"/>
              </a:ext>
            </a:extLst>
          </p:cNvPr>
          <p:cNvSpPr/>
          <p:nvPr/>
        </p:nvSpPr>
        <p:spPr>
          <a:xfrm>
            <a:off x="548640" y="1232516"/>
            <a:ext cx="54864" cy="384048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</a:rPr>
              <a:t>The full pipeline</a:t>
            </a:r>
          </a:p>
        </p:txBody>
      </p:sp>
      <p:pic>
        <p:nvPicPr>
          <p:cNvPr id="5" name="Picture 4" descr="chart_pipelin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143000"/>
            <a:ext cx="9326880" cy="3299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526280"/>
            <a:ext cx="548640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526280"/>
            <a:ext cx="73152" cy="1874519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BUILT TODAY (Σ SIDE)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22960" y="5029200"/>
                <a:ext cx="4937760" cy="6959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35000"/>
                  </a:lnSpc>
                </a:pPr>
                <a:r>
                  <a:rPr sz="1150" b="0" i="0" dirty="0">
                    <a:solidFill>
                      <a:srgbClr val="0F172A"/>
                    </a:solidFill>
                    <a:latin typeface="Calibri"/>
                  </a:rPr>
                  <a:t>• CAPM and FF5 estimated for AAPL / JPM / XOM / JNJ / PG (slides 4–7).</a:t>
                </a:r>
              </a:p>
              <a:p>
                <a:pPr algn="l">
                  <a:lnSpc>
                    <a:spcPct val="135000"/>
                  </a:lnSpc>
                </a:pPr>
                <a:r>
                  <a:rPr sz="1150" b="0" i="0" dirty="0">
                    <a:solidFill>
                      <a:srgbClr val="0F172A"/>
                    </a:solidFill>
                    <a:latin typeface="Calibri"/>
                  </a:rPr>
                  <a:t>• Factor-implied covariance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150" b="0" i="0" dirty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150" b="0" i="0" dirty="0" err="1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l-GR" sz="115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15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l-GR" sz="1150" b="0" i="1" dirty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l-GR" sz="1150" b="0" i="1" dirty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50" b="0" i="0" dirty="0">
                    <a:solidFill>
                      <a:srgbClr val="0F172A"/>
                    </a:solidFill>
                    <a:latin typeface="Calibri"/>
                  </a:rPr>
                  <a:t>ready to drop into the optimizer.</a:t>
                </a:r>
              </a:p>
              <a:p>
                <a:pPr algn="l">
                  <a:lnSpc>
                    <a:spcPct val="135000"/>
                  </a:lnSpc>
                </a:pPr>
                <a:r>
                  <a:rPr sz="1150" b="0" i="0" dirty="0">
                    <a:solidFill>
                      <a:srgbClr val="0F172A"/>
                    </a:solidFill>
                    <a:latin typeface="Calibri"/>
                  </a:rPr>
                  <a:t>• Sample period 2010–2024 monthly · n = 179 · factors and </a:t>
                </a:r>
                <a:r>
                  <a:rPr lang="en-US" sz="1150" b="0" i="0" dirty="0">
                    <a:solidFill>
                      <a:srgbClr val="0F172A"/>
                    </a:solidFill>
                    <a:latin typeface="Calibri"/>
                  </a:rPr>
                  <a:t>R</a:t>
                </a:r>
                <a:r>
                  <a:rPr lang="en-US" sz="1150" baseline="-25000" dirty="0">
                    <a:solidFill>
                      <a:srgbClr val="0F172A"/>
                    </a:solidFill>
                    <a:latin typeface="Calibri"/>
                  </a:rPr>
                  <a:t>f</a:t>
                </a:r>
                <a:r>
                  <a:rPr sz="1150" b="0" i="0" dirty="0">
                    <a:solidFill>
                      <a:srgbClr val="0F172A"/>
                    </a:solidFill>
                    <a:latin typeface="Calibri"/>
                  </a:rPr>
                  <a:t> from Ken French.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5029200"/>
                <a:ext cx="4937760" cy="695960"/>
              </a:xfrm>
              <a:prstGeom prst="rect">
                <a:avLst/>
              </a:prstGeom>
              <a:blipFill>
                <a:blip r:embed="rId3"/>
                <a:stretch>
                  <a:fillRect l="-1795" t="-1818"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6263640" y="4526280"/>
            <a:ext cx="5349240" cy="1874519"/>
          </a:xfrm>
          <a:prstGeom prst="rect">
            <a:avLst/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4526280"/>
            <a:ext cx="73152" cy="1874519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470916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85042"/>
                </a:solidFill>
                <a:latin typeface="Calibri"/>
              </a:rPr>
              <a:t>PENDING (MEAN FORECAST + EVALUATION)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029200"/>
            <a:ext cx="4800600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ML model trained on Russell 1000 cross-section to deliver μ̂.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Tangency weights for the 5-stock subset; comparison vs. equal-weight benchmark.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• FF5 attribution: residual α and t-stat — is the ML strategy real, or just factor tilts?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AML Final Project · Preliminary results ·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9 /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8640" y="1143000"/>
                <a:ext cx="10972800" cy="2160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300" b="0" i="1" dirty="0">
                    <a:solidFill>
                      <a:srgbClr val="475569"/>
                    </a:solidFill>
                    <a:latin typeface="Calibri"/>
                  </a:rPr>
                  <a:t>ML supplies </a:t>
                </a:r>
                <a14:m>
                  <m:oMath xmlns:m="http://schemas.openxmlformats.org/officeDocument/2006/math">
                    <m:r>
                      <a:rPr lang="zh-CN" altLang="en-US" sz="1300" b="0" i="1" dirty="0" smtClean="0">
                        <a:solidFill>
                          <a:srgbClr val="475569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sz="1300" b="0" i="1" dirty="0">
                    <a:solidFill>
                      <a:srgbClr val="475569"/>
                    </a:solidFill>
                    <a:latin typeface="Calibri"/>
                  </a:rPr>
                  <a:t>̂, factor model supplies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 b="0" i="0" dirty="0" smtClean="0">
                        <a:solidFill>
                          <a:srgbClr val="475569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1300" b="0" i="1" dirty="0">
                    <a:solidFill>
                      <a:srgbClr val="475569"/>
                    </a:solidFill>
                    <a:latin typeface="Calibri"/>
                  </a:rPr>
                  <a:t>, FF5 evaluates the result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143000"/>
                <a:ext cx="10972800" cy="216021"/>
              </a:xfrm>
              <a:prstGeom prst="rect">
                <a:avLst/>
              </a:prstGeom>
              <a:blipFill>
                <a:blip r:embed="rId4"/>
                <a:stretch>
                  <a:fillRect l="-925" t="-22222" b="-3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6890cce-eb7d-42a3-85a1-053f93e30c8b}" enabled="0" method="" siteId="{d6890cce-eb7d-42a3-85a1-053f93e30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1587</Words>
  <Application>Microsoft Macintosh PowerPoint</Application>
  <PresentationFormat>宽屏</PresentationFormat>
  <Paragraphs>251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Cambria Math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Chuanqi Wang</cp:lastModifiedBy>
  <cp:revision>2</cp:revision>
  <dcterms:created xsi:type="dcterms:W3CDTF">2013-01-27T09:14:16Z</dcterms:created>
  <dcterms:modified xsi:type="dcterms:W3CDTF">2026-04-27T22:29:16Z</dcterms:modified>
  <cp:category/>
</cp:coreProperties>
</file>